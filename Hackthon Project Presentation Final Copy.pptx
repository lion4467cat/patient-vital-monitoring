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90"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8"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7" Type="http://customschemas.google.com/relationships/presentationmetadata" Target="metadata"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42F5DF1C-6B88-06B7-83F3-E742FF49E22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71AFEFD-7056-B63E-8CEB-7F511255F0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B51EE1C-2F11-0321-3754-578E2D6B69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09784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4250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4.jpg" /><Relationship Id="rId5" Type="http://schemas.openxmlformats.org/officeDocument/2006/relationships/image" Target="../media/image3.jpg" /><Relationship Id="rId4" Type="http://schemas.openxmlformats.org/officeDocument/2006/relationships/image" Target="../media/image2.jpeg"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8.xml" /><Relationship Id="rId1" Type="http://schemas.openxmlformats.org/officeDocument/2006/relationships/slideLayout" Target="../slideLayouts/slideLayout1.xml" /><Relationship Id="rId4" Type="http://schemas.openxmlformats.org/officeDocument/2006/relationships/image" Target="../media/image5.png"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0.xml" /><Relationship Id="rId1" Type="http://schemas.openxmlformats.org/officeDocument/2006/relationships/slideLayout" Target="../slideLayouts/slideLayout1.xml" /><Relationship Id="rId4" Type="http://schemas.openxmlformats.org/officeDocument/2006/relationships/image" Target="../media/image6.png"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1.xml" /><Relationship Id="rId1" Type="http://schemas.openxmlformats.org/officeDocument/2006/relationships/slideLayout" Target="../slideLayouts/slideLayout1.xml" /><Relationship Id="rId5" Type="http://schemas.openxmlformats.org/officeDocument/2006/relationships/image" Target="../media/image8.png" /><Relationship Id="rId4" Type="http://schemas.openxmlformats.org/officeDocument/2006/relationships/image" Target="../media/image7.png"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2.xml" /><Relationship Id="rId1" Type="http://schemas.openxmlformats.org/officeDocument/2006/relationships/slideLayout" Target="../slideLayouts/slideLayout1.xml" /><Relationship Id="rId4" Type="http://schemas.openxmlformats.org/officeDocument/2006/relationships/image" Target="../media/image9.png" /></Relationships>
</file>

<file path=ppt/slides/_rels/slide1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3.xml" /><Relationship Id="rId1" Type="http://schemas.openxmlformats.org/officeDocument/2006/relationships/slideLayout" Target="../slideLayouts/slideLayout1.xml" /><Relationship Id="rId4" Type="http://schemas.openxmlformats.org/officeDocument/2006/relationships/image" Target="../media/image10.png" /></Relationships>
</file>

<file path=ppt/slides/_rels/slide1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4.xml" /><Relationship Id="rId1" Type="http://schemas.openxmlformats.org/officeDocument/2006/relationships/slideLayout" Target="../slideLayouts/slideLayout1.xml" /><Relationship Id="rId5" Type="http://schemas.openxmlformats.org/officeDocument/2006/relationships/image" Target="../media/image12.png" /><Relationship Id="rId4" Type="http://schemas.openxmlformats.org/officeDocument/2006/relationships/image" Target="../media/image11.png" /></Relationships>
</file>

<file path=ppt/slides/_rels/slide1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Lion4467cat/patient-vital-monitoring" TargetMode="External" /><Relationship Id="rId2" Type="http://schemas.openxmlformats.org/officeDocument/2006/relationships/notesSlide" Target="../notesSlides/notesSlide16.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_rels/slide18.xml.rels><?xml version="1.0" encoding="UTF-8" standalone="yes"?>
<Relationships xmlns="http://schemas.openxmlformats.org/package/2006/relationships"><Relationship Id="rId8" Type="http://schemas.openxmlformats.org/officeDocument/2006/relationships/hyperlink" Target="https://www.rcplondon.ac.uk/projects/outputs/national-early-warning-score-news-2" TargetMode="External" /><Relationship Id="rId3" Type="http://schemas.openxmlformats.org/officeDocument/2006/relationships/image" Target="../media/image1.png" /><Relationship Id="rId7" Type="http://schemas.openxmlformats.org/officeDocument/2006/relationships/hyperlink" Target="https://www.ncbi.nlm.nih.gov/books/NBK541070/" TargetMode="External" /><Relationship Id="rId2" Type="http://schemas.openxmlformats.org/officeDocument/2006/relationships/notesSlide" Target="../notesSlides/notesSlide17.xml" /><Relationship Id="rId1" Type="http://schemas.openxmlformats.org/officeDocument/2006/relationships/slideLayout" Target="../slideLayouts/slideLayout1.xml" /><Relationship Id="rId6" Type="http://schemas.openxmlformats.org/officeDocument/2006/relationships/hyperlink" Target="https://www.ibm.com/cloud" TargetMode="External" /><Relationship Id="rId5" Type="http://schemas.openxmlformats.org/officeDocument/2006/relationships/hyperlink" Target="https://docs.langflow.org/" TargetMode="External" /><Relationship Id="rId4" Type="http://schemas.openxmlformats.org/officeDocument/2006/relationships/hyperlink" Target="https://www.ibm.com/products/watsonx-ai" TargetMode="External" /><Relationship Id="rId9" Type="http://schemas.openxmlformats.org/officeDocument/2006/relationships/hyperlink" Target="https://github.com/logspace-ai/langflow" TargetMode="External" /></Relationships>
</file>

<file path=ppt/slides/_rels/slide19.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18.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Intelligent Patient Vital Monitoring and Alert System</a:t>
            </a:r>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37657" y="70472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Code Blue</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143208"/>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94889750"/>
              </p:ext>
            </p:extLst>
          </p:nvPr>
        </p:nvGraphicFramePr>
        <p:xfrm>
          <a:off x="1893655" y="1597830"/>
          <a:ext cx="8107888" cy="4555450"/>
        </p:xfrm>
        <a:graphic>
          <a:graphicData uri="http://schemas.openxmlformats.org/drawingml/2006/table">
            <a:tbl>
              <a:tblPr>
                <a:noFill/>
                <a:tableStyleId>{0AAD8F4D-43EB-41E5-8A38-28AB6DFB1B60}</a:tableStyleId>
              </a:tblPr>
              <a:tblGrid>
                <a:gridCol w="1781983">
                  <a:extLst>
                    <a:ext uri="{9D8B030D-6E8A-4147-A177-3AD203B41FA5}">
                      <a16:colId xmlns:a16="http://schemas.microsoft.com/office/drawing/2014/main" val="20000"/>
                    </a:ext>
                  </a:extLst>
                </a:gridCol>
                <a:gridCol w="2108635">
                  <a:extLst>
                    <a:ext uri="{9D8B030D-6E8A-4147-A177-3AD203B41FA5}">
                      <a16:colId xmlns:a16="http://schemas.microsoft.com/office/drawing/2014/main" val="20002"/>
                    </a:ext>
                  </a:extLst>
                </a:gridCol>
                <a:gridCol w="2108635">
                  <a:extLst>
                    <a:ext uri="{9D8B030D-6E8A-4147-A177-3AD203B41FA5}">
                      <a16:colId xmlns:a16="http://schemas.microsoft.com/office/drawing/2014/main" val="20003"/>
                    </a:ext>
                  </a:extLst>
                </a:gridCol>
                <a:gridCol w="2108635">
                  <a:extLst>
                    <a:ext uri="{9D8B030D-6E8A-4147-A177-3AD203B41FA5}">
                      <a16:colId xmlns:a16="http://schemas.microsoft.com/office/drawing/2014/main" val="20004"/>
                    </a:ext>
                  </a:extLst>
                </a:gridCol>
              </a:tblGrid>
              <a:tr h="956194">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Phone number</a:t>
                      </a:r>
                      <a:endParaRPr dirty="0"/>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[WhatsApp]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090687">
                <a:tc>
                  <a:txBody>
                    <a:bodyPr/>
                    <a:lstStyle/>
                    <a:p>
                      <a:pPr marL="0" marR="0" lvl="0" indent="0" algn="l" rtl="0">
                        <a:spcBef>
                          <a:spcPts val="0"/>
                        </a:spcBef>
                        <a:spcAft>
                          <a:spcPts val="0"/>
                        </a:spcAft>
                        <a:buNone/>
                      </a:pPr>
                      <a:r>
                        <a:rPr lang="en-US" sz="1800" dirty="0"/>
                        <a:t>Rajashree Shankara Narayana</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rajashreeshankara.ai23@bmsce.ac.in</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t>63610 73975</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417882">
                <a:tc>
                  <a:txBody>
                    <a:bodyPr/>
                    <a:lstStyle/>
                    <a:p>
                      <a:pPr marL="0" marR="0" lvl="0" indent="0" algn="l" rtl="0">
                        <a:spcBef>
                          <a:spcPts val="0"/>
                        </a:spcBef>
                        <a:spcAft>
                          <a:spcPts val="0"/>
                        </a:spcAft>
                        <a:buNone/>
                      </a:pPr>
                      <a:r>
                        <a:rPr lang="en-US" sz="1800" dirty="0"/>
                        <a:t>Aryan Kumar</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sz="1800" dirty="0"/>
                        <a:t>tassithakur@gmail.com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sz="1800" dirty="0"/>
                        <a:t>79033 26072</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090687">
                <a:tc>
                  <a:txBody>
                    <a:bodyPr/>
                    <a:lstStyle/>
                    <a:p>
                      <a:pPr marL="0" marR="0" lvl="0" indent="0" algn="l" rtl="0">
                        <a:spcBef>
                          <a:spcPts val="0"/>
                        </a:spcBef>
                        <a:spcAft>
                          <a:spcPts val="0"/>
                        </a:spcAft>
                        <a:buNone/>
                      </a:pPr>
                      <a:r>
                        <a:rPr lang="en-US" sz="1800" dirty="0"/>
                        <a:t>S. S. Gokula </a:t>
                      </a:r>
                    </a:p>
                    <a:p>
                      <a:pPr marL="0" marR="0" lvl="0" indent="0" algn="l" rtl="0">
                        <a:spcBef>
                          <a:spcPts val="0"/>
                        </a:spcBef>
                        <a:spcAft>
                          <a:spcPts val="0"/>
                        </a:spcAft>
                        <a:buNone/>
                      </a:pPr>
                      <a:r>
                        <a:rPr lang="en-US" sz="1800" dirty="0"/>
                        <a:t>Swamy</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gokulaswamyss@gmail.com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9900054954</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3" name="Picture 2">
            <a:extLst>
              <a:ext uri="{FF2B5EF4-FFF2-40B4-BE49-F238E27FC236}">
                <a16:creationId xmlns:a16="http://schemas.microsoft.com/office/drawing/2014/main" id="{033553F4-8E74-DC43-5186-F66FBC005FC4}"/>
              </a:ext>
            </a:extLst>
          </p:cNvPr>
          <p:cNvPicPr>
            <a:picLocks noChangeAspect="1"/>
          </p:cNvPicPr>
          <p:nvPr/>
        </p:nvPicPr>
        <p:blipFill>
          <a:blip r:embed="rId4"/>
          <a:stretch>
            <a:fillRect/>
          </a:stretch>
        </p:blipFill>
        <p:spPr>
          <a:xfrm>
            <a:off x="4213400" y="2595538"/>
            <a:ext cx="887989" cy="1183604"/>
          </a:xfrm>
          <a:prstGeom prst="rect">
            <a:avLst/>
          </a:prstGeom>
        </p:spPr>
      </p:pic>
      <p:pic>
        <p:nvPicPr>
          <p:cNvPr id="6" name="Picture 5">
            <a:extLst>
              <a:ext uri="{FF2B5EF4-FFF2-40B4-BE49-F238E27FC236}">
                <a16:creationId xmlns:a16="http://schemas.microsoft.com/office/drawing/2014/main" id="{0C685045-3016-E7C6-817B-EE06E98A01F7}"/>
              </a:ext>
            </a:extLst>
          </p:cNvPr>
          <p:cNvPicPr>
            <a:picLocks noChangeAspect="1"/>
          </p:cNvPicPr>
          <p:nvPr/>
        </p:nvPicPr>
        <p:blipFill>
          <a:blip r:embed="rId5"/>
          <a:stretch>
            <a:fillRect/>
          </a:stretch>
        </p:blipFill>
        <p:spPr>
          <a:xfrm>
            <a:off x="4158567" y="3694945"/>
            <a:ext cx="997653" cy="1412001"/>
          </a:xfrm>
          <a:prstGeom prst="rect">
            <a:avLst/>
          </a:prstGeom>
        </p:spPr>
      </p:pic>
      <p:pic>
        <p:nvPicPr>
          <p:cNvPr id="8" name="Picture 7">
            <a:extLst>
              <a:ext uri="{FF2B5EF4-FFF2-40B4-BE49-F238E27FC236}">
                <a16:creationId xmlns:a16="http://schemas.microsoft.com/office/drawing/2014/main" id="{EA0CF459-6BB0-F990-E929-5CED266908A5}"/>
              </a:ext>
            </a:extLst>
          </p:cNvPr>
          <p:cNvPicPr>
            <a:picLocks noChangeAspect="1"/>
          </p:cNvPicPr>
          <p:nvPr/>
        </p:nvPicPr>
        <p:blipFill>
          <a:blip r:embed="rId6"/>
          <a:stretch>
            <a:fillRect/>
          </a:stretch>
        </p:blipFill>
        <p:spPr>
          <a:xfrm>
            <a:off x="4213398" y="5142980"/>
            <a:ext cx="887989" cy="11436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1" y="560095"/>
            <a:ext cx="11051532" cy="5755422"/>
          </a:xfrm>
          <a:prstGeom prst="rect">
            <a:avLst/>
          </a:prstGeom>
          <a:noFill/>
        </p:spPr>
        <p:txBody>
          <a:bodyPr wrap="square" rtlCol="0">
            <a:spAutoFit/>
          </a:bodyPr>
          <a:lstStyle/>
          <a:p>
            <a:r>
              <a:rPr lang="en-US" sz="1600" dirty="0"/>
              <a:t>Problem Statement 7: Intelligent Patient Vital Monitoring and Alert System</a:t>
            </a:r>
          </a:p>
          <a:p>
            <a:r>
              <a:rPr lang="en-US" sz="1600" b="1" dirty="0"/>
              <a:t>The Challenge</a:t>
            </a:r>
          </a:p>
          <a:p>
            <a:r>
              <a:rPr lang="en-US" sz="1600" dirty="0"/>
              <a:t>Continuous monitoring of patient vital signs such as heart rate, blood pressure, oxygen saturation, and temperature is critical in preventive healthcare. However, healthcare staff cannot manually monitor real-time vital data for multiple patients simultaneously. This increases the risk of delayed response to early signs of health deterioration. An intelligent assistive system is required to continuously analyze vital signs and flag potential risks in advance.</a:t>
            </a:r>
          </a:p>
          <a:p>
            <a:endParaRPr lang="en-US" sz="1600" dirty="0"/>
          </a:p>
          <a:p>
            <a:r>
              <a:rPr lang="en-US" sz="1600" b="1" dirty="0"/>
              <a:t>Vital Data Analysis Agent</a:t>
            </a:r>
          </a:p>
          <a:p>
            <a:r>
              <a:rPr lang="en-US" sz="1600" dirty="0"/>
              <a:t>An agent that processes continuous or periodic vital sign data and summarizes patient health status trends.</a:t>
            </a:r>
          </a:p>
          <a:p>
            <a:endParaRPr lang="en-US" sz="1600" dirty="0"/>
          </a:p>
          <a:p>
            <a:r>
              <a:rPr lang="en-US" sz="1600" b="1" dirty="0"/>
              <a:t>Anomaly Detection Agent</a:t>
            </a:r>
          </a:p>
          <a:p>
            <a:r>
              <a:rPr lang="en-US" sz="1600" dirty="0"/>
              <a:t>An agent that identifies deviations from normal vital ranges using historical baselines and guideline-based thresholds.</a:t>
            </a:r>
          </a:p>
          <a:p>
            <a:endParaRPr lang="en-US" sz="1600" dirty="0"/>
          </a:p>
          <a:p>
            <a:r>
              <a:rPr lang="en-US" sz="1600" b="1" dirty="0"/>
              <a:t>Alert &amp; Care Guidance Assistant</a:t>
            </a:r>
          </a:p>
          <a:p>
            <a:r>
              <a:rPr lang="en-US" sz="1600" dirty="0"/>
              <a:t>An agent that generates alerts and provides general care guidance based on detected anomalies</a:t>
            </a:r>
          </a:p>
          <a:p>
            <a:r>
              <a:rPr lang="en-US" sz="1600" dirty="0"/>
              <a:t> (assistive only, non-diagnostic).</a:t>
            </a:r>
          </a:p>
          <a:p>
            <a:endParaRPr lang="en-US" sz="1600" dirty="0"/>
          </a:p>
          <a:p>
            <a:r>
              <a:rPr lang="en-US" sz="1600" b="1" dirty="0"/>
              <a:t>Outcome</a:t>
            </a:r>
          </a:p>
          <a:p>
            <a:r>
              <a:rPr lang="en-US" sz="1600" dirty="0"/>
              <a:t>Improves early risk detection and supports timely clinical attention and patient safety.</a:t>
            </a:r>
          </a:p>
          <a:p>
            <a:endParaRPr lang="en-US" sz="1600" dirty="0"/>
          </a:p>
          <a:p>
            <a:r>
              <a:rPr lang="en-US" sz="1600" b="1" dirty="0"/>
              <a:t>Mandatory Tech Stack</a:t>
            </a:r>
          </a:p>
          <a:p>
            <a:r>
              <a:rPr lang="en-US" sz="1600" dirty="0"/>
              <a:t>Lang Flow using IBM Granite Model</a:t>
            </a:r>
          </a:p>
          <a:p>
            <a:r>
              <a:rPr lang="en-US" sz="1600" dirty="0"/>
              <a:t> (Using RAG on standard vital ranges and preventive care guidelines.)</a:t>
            </a:r>
            <a:endParaRPr lang="en-IN" sz="1600" dirty="0"/>
          </a:p>
        </p:txBody>
      </p:sp>
      <p:sp>
        <p:nvSpPr>
          <p:cNvPr id="3" name="TextBox 2">
            <a:extLst>
              <a:ext uri="{FF2B5EF4-FFF2-40B4-BE49-F238E27FC236}">
                <a16:creationId xmlns:a16="http://schemas.microsoft.com/office/drawing/2014/main" id="{9C57FE32-8AA8-E540-E0AA-C9737C71A0E2}"/>
              </a:ext>
            </a:extLst>
          </p:cNvPr>
          <p:cNvSpPr txBox="1"/>
          <p:nvPr/>
        </p:nvSpPr>
        <p:spPr>
          <a:xfrm>
            <a:off x="4482580" y="9843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1005840" y="1584102"/>
            <a:ext cx="10268712" cy="3785652"/>
          </a:xfrm>
          <a:prstGeom prst="rect">
            <a:avLst/>
          </a:prstGeom>
          <a:noFill/>
        </p:spPr>
        <p:txBody>
          <a:bodyPr wrap="square" rtlCol="0">
            <a:spAutoFit/>
          </a:bodyPr>
          <a:lstStyle/>
          <a:p>
            <a:r>
              <a:rPr lang="en-US" sz="2400" dirty="0"/>
              <a:t>Basically, we upload the patient’s information periodically to the model.</a:t>
            </a:r>
          </a:p>
          <a:p>
            <a:r>
              <a:rPr lang="en-US" sz="2400" dirty="0"/>
              <a:t>The vital information of the patient is compared against standard ranges from a guideline file.</a:t>
            </a:r>
          </a:p>
          <a:p>
            <a:r>
              <a:rPr lang="en-US" sz="2400" dirty="0"/>
              <a:t>Then detects anomalies and computes risk guiding on non-diagnostic alerts and suggestions that clinicians can implement.</a:t>
            </a:r>
          </a:p>
          <a:p>
            <a:r>
              <a:rPr lang="en-US" sz="2400" dirty="0"/>
              <a:t>The Proposed solution in a concise way can put as follows:</a:t>
            </a:r>
          </a:p>
          <a:p>
            <a:r>
              <a:rPr lang="en-US" sz="2400" dirty="0"/>
              <a:t>An integrated LanFlow and IBM Granite pipeline that uses RAG on vital sign guidelines to analyze periodic patient vitals and compute a weighted risk score and display non-diagnostic alerts and guidance to aid in early risk detection and clinical attention</a:t>
            </a:r>
            <a:endParaRPr lang="en-IN" sz="2400" dirty="0"/>
          </a:p>
        </p:txBody>
      </p:sp>
      <p:sp>
        <p:nvSpPr>
          <p:cNvPr id="3" name="TextBox 2">
            <a:extLst>
              <a:ext uri="{FF2B5EF4-FFF2-40B4-BE49-F238E27FC236}">
                <a16:creationId xmlns:a16="http://schemas.microsoft.com/office/drawing/2014/main" id="{2F548320-B634-92CD-C520-43B25557F859}"/>
              </a:ext>
            </a:extLst>
          </p:cNvPr>
          <p:cNvSpPr txBox="1"/>
          <p:nvPr/>
        </p:nvSpPr>
        <p:spPr>
          <a:xfrm>
            <a:off x="4983992" y="880388"/>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961644" y="986605"/>
            <a:ext cx="10268712" cy="5262979"/>
          </a:xfrm>
          <a:prstGeom prst="rect">
            <a:avLst/>
          </a:prstGeom>
          <a:noFill/>
        </p:spPr>
        <p:txBody>
          <a:bodyPr wrap="square" rtlCol="0">
            <a:spAutoFit/>
          </a:bodyPr>
          <a:lstStyle/>
          <a:p>
            <a:r>
              <a:rPr lang="en-US" sz="2400" dirty="0"/>
              <a:t>This project is needed to bridge the gap between continuous vital-sign data and timely clinical action by providing an intelligent, guideline‑based monitoring assistant that detects early risk, prioritizes patients, and supports overburdened healthcare staff without making formal diagnoses.</a:t>
            </a:r>
          </a:p>
          <a:p>
            <a:endParaRPr lang="en-US" sz="2400" dirty="0"/>
          </a:p>
          <a:p>
            <a:r>
              <a:rPr lang="en-US" sz="2400" dirty="0"/>
              <a:t>The Major Factors which compel the existence of this project are</a:t>
            </a:r>
          </a:p>
          <a:p>
            <a:pPr marL="457200" indent="-457200">
              <a:buAutoNum type="arabicPeriod"/>
            </a:pPr>
            <a:r>
              <a:rPr lang="en-US" sz="2400" dirty="0"/>
              <a:t>Continuous Monitoring Gap: Less Doctors and More Patients , So wrong diagnosis and errors in assessment are prone to happen in that tense environment between life and death</a:t>
            </a:r>
          </a:p>
          <a:p>
            <a:pPr marL="457200" indent="-457200">
              <a:buAutoNum type="arabicPeriod"/>
            </a:pPr>
            <a:r>
              <a:rPr lang="en-US" sz="2400" dirty="0"/>
              <a:t>Early warning = better outcomes: The earlier the diagnosis of the disease or condition the survival chances are better.</a:t>
            </a:r>
          </a:p>
          <a:p>
            <a:pPr marL="457200" indent="-457200">
              <a:buAutoNum type="arabicPeriod"/>
            </a:pPr>
            <a:r>
              <a:rPr lang="en-US" sz="2400" dirty="0"/>
              <a:t>Scalability to remote monitoring: The project can be extended to telemedicine and remote patient monitoring with an addition of an expert database and rules.</a:t>
            </a:r>
          </a:p>
        </p:txBody>
      </p:sp>
      <p:sp>
        <p:nvSpPr>
          <p:cNvPr id="3" name="TextBox 2">
            <a:extLst>
              <a:ext uri="{FF2B5EF4-FFF2-40B4-BE49-F238E27FC236}">
                <a16:creationId xmlns:a16="http://schemas.microsoft.com/office/drawing/2014/main" id="{0A9D9ED1-DFE2-2CB1-E07B-2D3C44A85C9C}"/>
              </a:ext>
            </a:extLst>
          </p:cNvPr>
          <p:cNvSpPr txBox="1"/>
          <p:nvPr/>
        </p:nvSpPr>
        <p:spPr>
          <a:xfrm>
            <a:off x="4948715" y="380561"/>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987C414-2D49-9E5D-A5D6-CF94524B9BE5}"/>
              </a:ext>
            </a:extLst>
          </p:cNvPr>
          <p:cNvSpPr txBox="1"/>
          <p:nvPr/>
        </p:nvSpPr>
        <p:spPr>
          <a:xfrm>
            <a:off x="4756209" y="428688"/>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4" name="TextBox 3">
            <a:extLst>
              <a:ext uri="{FF2B5EF4-FFF2-40B4-BE49-F238E27FC236}">
                <a16:creationId xmlns:a16="http://schemas.microsoft.com/office/drawing/2014/main" id="{CF522E22-F38C-FD1A-2981-3C3BDAF19A71}"/>
              </a:ext>
            </a:extLst>
          </p:cNvPr>
          <p:cNvSpPr txBox="1"/>
          <p:nvPr/>
        </p:nvSpPr>
        <p:spPr>
          <a:xfrm>
            <a:off x="946484" y="1482243"/>
            <a:ext cx="10299032" cy="3046988"/>
          </a:xfrm>
          <a:prstGeom prst="rect">
            <a:avLst/>
          </a:prstGeom>
          <a:noFill/>
        </p:spPr>
        <p:txBody>
          <a:bodyPr wrap="square" rtlCol="0">
            <a:spAutoFit/>
          </a:bodyPr>
          <a:lstStyle/>
          <a:p>
            <a:r>
              <a:rPr lang="en-US" sz="2400" dirty="0"/>
              <a:t>Primary Users</a:t>
            </a:r>
          </a:p>
          <a:p>
            <a:pPr marL="457200" indent="-457200">
              <a:buAutoNum type="arabicPeriod"/>
            </a:pPr>
            <a:r>
              <a:rPr lang="en-US" sz="2400" dirty="0"/>
              <a:t>ICU or Ward Nurses and Healthcare Technicians</a:t>
            </a:r>
          </a:p>
          <a:p>
            <a:pPr marL="457200" indent="-457200">
              <a:buAutoNum type="arabicPeriod"/>
            </a:pPr>
            <a:r>
              <a:rPr lang="en-IN" sz="2400" dirty="0"/>
              <a:t>Physicians and Medical Officers</a:t>
            </a:r>
          </a:p>
          <a:p>
            <a:pPr marL="457200" indent="-457200">
              <a:buAutoNum type="arabicPeriod"/>
            </a:pPr>
            <a:r>
              <a:rPr lang="en-IN" sz="2400" dirty="0"/>
              <a:t>Hospital administrators and Quality Managers</a:t>
            </a:r>
          </a:p>
          <a:p>
            <a:endParaRPr lang="en-IN" sz="2400" dirty="0"/>
          </a:p>
          <a:p>
            <a:r>
              <a:rPr lang="en-IN" sz="2400" dirty="0"/>
              <a:t>Secondary Users</a:t>
            </a:r>
          </a:p>
          <a:p>
            <a:pPr marL="457200" indent="-457200">
              <a:buAutoNum type="arabicPeriod"/>
            </a:pPr>
            <a:r>
              <a:rPr lang="en-IN" sz="2400" dirty="0"/>
              <a:t>Telemedicine /Remoted Monitoring Centre's</a:t>
            </a:r>
          </a:p>
          <a:p>
            <a:pPr marL="457200" indent="-457200">
              <a:buAutoNum type="arabicPeriod"/>
            </a:pPr>
            <a:r>
              <a:rPr lang="en-IN" sz="2400" dirty="0"/>
              <a:t>Clinical Research and development of better models </a:t>
            </a:r>
          </a:p>
        </p:txBody>
      </p:sp>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322545" y="531593"/>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436192" cy="5632311"/>
          </a:xfrm>
          <a:prstGeom prst="rect">
            <a:avLst/>
          </a:prstGeom>
          <a:noFill/>
        </p:spPr>
        <p:txBody>
          <a:bodyPr wrap="square" rtlCol="0">
            <a:spAutoFit/>
          </a:bodyPr>
          <a:lstStyle/>
          <a:p>
            <a:pPr marL="285750" indent="-285750">
              <a:buFont typeface="Arial" panose="020B0604020202020204" pitchFamily="34" charset="0"/>
              <a:buChar char="•"/>
            </a:pPr>
            <a:r>
              <a:rPr lang="en-US" sz="1800" dirty="0"/>
              <a:t>Langflow platform : DataStax Astra – Visual Workflow builder to connect components.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Langflow component name</a:t>
            </a:r>
          </a:p>
          <a:p>
            <a:pPr lvl="2"/>
            <a:r>
              <a:rPr lang="en-US" sz="1800" dirty="0"/>
              <a:t>   	1. Chat Input/Output : User Interaction</a:t>
            </a:r>
          </a:p>
          <a:p>
            <a:pPr lvl="2"/>
            <a:r>
              <a:rPr lang="en-US" sz="1800" dirty="0"/>
              <a:t>	 2. Read File : Loads medical guideline file for RAG context (file.txt)</a:t>
            </a:r>
          </a:p>
          <a:p>
            <a:pPr lvl="2"/>
            <a:r>
              <a:rPr lang="en-US" sz="1800" dirty="0"/>
              <a:t>	 3. Prompt Template : Injects guidelines and patient vitals to the Granite prompt.</a:t>
            </a:r>
          </a:p>
          <a:p>
            <a:pPr lvl="2"/>
            <a:r>
              <a:rPr lang="en-US" sz="1800" dirty="0"/>
              <a:t>	 4. IBM Granite API Component : Custom Component to use Granite model on IBM Cloud.</a:t>
            </a:r>
          </a:p>
          <a:p>
            <a:pPr lvl="2"/>
            <a:r>
              <a:rPr lang="en-US" sz="1800" dirty="0"/>
              <a:t>	 Custom Components</a:t>
            </a:r>
          </a:p>
          <a:p>
            <a:pPr lvl="2"/>
            <a:r>
              <a:rPr lang="en-US" sz="1800" dirty="0"/>
              <a:t>	  5. Risk Stratification Calculator and Summary of trends</a:t>
            </a:r>
          </a:p>
          <a:p>
            <a:pPr marL="285750" indent="-285750">
              <a:buFont typeface="Arial" panose="020B0604020202020204" pitchFamily="34" charset="0"/>
              <a:buChar char="•"/>
            </a:pPr>
            <a:r>
              <a:rPr lang="en-US" sz="1800" dirty="0"/>
              <a:t>IBM Granite model : ibm/granite-3-8b-instruct.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 : Authentication of API key and Project ID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RAG : Vital sign normal ranges stored in file.txt, read at runtime and passed as {context} to the prompt.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Python : Used in Risk Stratification component.</a:t>
            </a:r>
          </a:p>
          <a:p>
            <a:pPr marL="285750" indent="-285750">
              <a:buFont typeface="Arial" panose="020B0604020202020204" pitchFamily="34" charset="0"/>
              <a:buChar char="•"/>
            </a:pPr>
            <a:endParaRPr lang="en-US" sz="1800" dirty="0"/>
          </a:p>
          <a:p>
            <a:endParaRPr lang="en-US" sz="1800" dirty="0"/>
          </a:p>
          <a:p>
            <a:r>
              <a:rPr lang="en-IN" sz="1800" dirty="0"/>
              <a:t>.</a:t>
            </a:r>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493F9CA8-7EAD-8A7E-9139-1E609676A960}"/>
              </a:ext>
            </a:extLst>
          </p:cNvPr>
          <p:cNvSpPr txBox="1"/>
          <p:nvPr/>
        </p:nvSpPr>
        <p:spPr>
          <a:xfrm>
            <a:off x="545432" y="1583562"/>
            <a:ext cx="10796336" cy="4524315"/>
          </a:xfrm>
          <a:prstGeom prst="rect">
            <a:avLst/>
          </a:prstGeom>
          <a:noFill/>
        </p:spPr>
        <p:txBody>
          <a:bodyPr wrap="square" rtlCol="0">
            <a:spAutoFit/>
          </a:bodyPr>
          <a:lstStyle/>
          <a:p>
            <a:pPr marL="457200" indent="-457200">
              <a:buAutoNum type="arabicPeriod"/>
            </a:pPr>
            <a:r>
              <a:rPr lang="en-US" sz="2400" dirty="0"/>
              <a:t>LLM Driven Clinical Reasoning and not value based threshold alone</a:t>
            </a:r>
          </a:p>
          <a:p>
            <a:pPr marL="457200" indent="-457200">
              <a:buAutoNum type="arabicPeriod"/>
            </a:pPr>
            <a:r>
              <a:rPr lang="en-US" sz="2400" dirty="0"/>
              <a:t>Combined Risk and Trend View in one Report</a:t>
            </a:r>
          </a:p>
          <a:p>
            <a:pPr lvl="3"/>
            <a:r>
              <a:rPr lang="en-US" sz="2400" dirty="0"/>
              <a:t>	- Weighted risk score</a:t>
            </a:r>
          </a:p>
          <a:p>
            <a:pPr lvl="3"/>
            <a:r>
              <a:rPr lang="en-US" sz="2400" dirty="0"/>
              <a:t>	- Guideline Based severity</a:t>
            </a:r>
          </a:p>
          <a:p>
            <a:pPr lvl="3"/>
            <a:r>
              <a:rPr lang="en-US" sz="2400" dirty="0"/>
              <a:t>	- Baseline comparison and percentage change trends</a:t>
            </a:r>
          </a:p>
          <a:p>
            <a:pPr lvl="3"/>
            <a:r>
              <a:rPr lang="en-US" sz="2400" dirty="0"/>
              <a:t>3. Custom Risk Stratification Engine on top of the LLM output : Converts qualitative LLM judgements into a numeric and interpretable risk score(0-100%).</a:t>
            </a:r>
          </a:p>
          <a:p>
            <a:pPr lvl="3"/>
            <a:r>
              <a:rPr lang="en-US" sz="2400" dirty="0"/>
              <a:t>4. Explainable and Non-Diagnostic by design</a:t>
            </a:r>
          </a:p>
          <a:p>
            <a:pPr lvl="3"/>
            <a:r>
              <a:rPr lang="en-US" sz="2400" dirty="0"/>
              <a:t>5. Uses a lightweight file.txt guideline document as knowledge base.</a:t>
            </a:r>
          </a:p>
          <a:p>
            <a:pPr lvl="3"/>
            <a:r>
              <a:rPr lang="en-US" sz="2400" dirty="0"/>
              <a:t>6. Modular LangFlow Architecture : Easy to debug and scale up.</a:t>
            </a:r>
          </a:p>
          <a:p>
            <a:pPr lvl="3"/>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777AB181-87F8-42D0-6E76-266802CF7666}"/>
              </a:ext>
            </a:extLst>
          </p:cNvPr>
          <p:cNvPicPr>
            <a:picLocks noChangeAspect="1"/>
          </p:cNvPicPr>
          <p:nvPr/>
        </p:nvPicPr>
        <p:blipFill>
          <a:blip r:embed="rId4"/>
          <a:stretch>
            <a:fillRect/>
          </a:stretch>
        </p:blipFill>
        <p:spPr>
          <a:xfrm>
            <a:off x="363106" y="1251284"/>
            <a:ext cx="11506493" cy="41067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a:solidFill>
                  <a:srgbClr val="051D3A"/>
                </a:solidFill>
                <a:ea typeface="Times New Roman"/>
                <a:cs typeface="Times New Roman"/>
                <a:sym typeface="Times New Roman"/>
              </a:rPr>
              <a:t>Langflow component Used </a:t>
            </a:r>
            <a:endParaRPr lang="en-US" sz="2400" b="1" i="0" u="none" strike="noStrike" cap="none" dirty="0">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771747"/>
            <a:ext cx="11032618" cy="307777"/>
          </a:xfrm>
          <a:prstGeom prst="rect">
            <a:avLst/>
          </a:prstGeom>
          <a:noFill/>
        </p:spPr>
        <p:txBody>
          <a:bodyPr wrap="square" rtlCol="0">
            <a:spAutoFit/>
          </a:bodyPr>
          <a:lstStyle/>
          <a:p>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5" name="TextBox 4">
            <a:extLst>
              <a:ext uri="{FF2B5EF4-FFF2-40B4-BE49-F238E27FC236}">
                <a16:creationId xmlns:a16="http://schemas.microsoft.com/office/drawing/2014/main" id="{F99EA196-37F3-993C-2B37-CF7AB765F409}"/>
              </a:ext>
            </a:extLst>
          </p:cNvPr>
          <p:cNvSpPr txBox="1"/>
          <p:nvPr/>
        </p:nvSpPr>
        <p:spPr>
          <a:xfrm>
            <a:off x="537590" y="962526"/>
            <a:ext cx="10483336" cy="5262979"/>
          </a:xfrm>
          <a:prstGeom prst="rect">
            <a:avLst/>
          </a:prstGeom>
          <a:noFill/>
        </p:spPr>
        <p:txBody>
          <a:bodyPr wrap="square" rtlCol="0">
            <a:spAutoFit/>
          </a:bodyPr>
          <a:lstStyle/>
          <a:p>
            <a:r>
              <a:rPr lang="en-US" sz="1200" dirty="0"/>
              <a:t>1. </a:t>
            </a:r>
            <a:r>
              <a:rPr lang="en-US" sz="1200" b="1" dirty="0"/>
              <a:t>Chat Input </a:t>
            </a:r>
          </a:p>
          <a:p>
            <a:r>
              <a:rPr lang="en-US" sz="1200" dirty="0"/>
              <a:t>   - Captures patient details and vital signs from the user.  </a:t>
            </a:r>
          </a:p>
          <a:p>
            <a:r>
              <a:rPr lang="en-US" sz="1200" dirty="0"/>
              <a:t>   - Acts as the starting point for every analysis request.</a:t>
            </a:r>
          </a:p>
          <a:p>
            <a:endParaRPr lang="en-US" sz="1200" dirty="0"/>
          </a:p>
          <a:p>
            <a:r>
              <a:rPr lang="en-US" sz="1200" dirty="0"/>
              <a:t>2. </a:t>
            </a:r>
            <a:r>
              <a:rPr lang="en-US" sz="1200" b="1" dirty="0"/>
              <a:t>File Component </a:t>
            </a:r>
            <a:r>
              <a:rPr lang="en-US" sz="1200" dirty="0"/>
              <a:t>(Read File) </a:t>
            </a:r>
          </a:p>
          <a:p>
            <a:r>
              <a:rPr lang="en-US" sz="1200" dirty="0"/>
              <a:t>   - Loads `file.txt` containing medical vital‑sign guidelines and normal ranges.  </a:t>
            </a:r>
          </a:p>
          <a:p>
            <a:r>
              <a:rPr lang="en-US" sz="1200" dirty="0"/>
              <a:t>   - Provides this text as **context** (RAG) to the Prompt Template.</a:t>
            </a:r>
          </a:p>
          <a:p>
            <a:endParaRPr lang="en-US" sz="1200" dirty="0"/>
          </a:p>
          <a:p>
            <a:r>
              <a:rPr lang="en-US" sz="1200" dirty="0"/>
              <a:t>3. </a:t>
            </a:r>
            <a:r>
              <a:rPr lang="en-US" sz="1200" b="1" dirty="0"/>
              <a:t>Prompt Template</a:t>
            </a:r>
          </a:p>
          <a:p>
            <a:r>
              <a:rPr lang="en-US" sz="1200" dirty="0"/>
              <a:t>   - Merges:</a:t>
            </a:r>
          </a:p>
          <a:p>
            <a:r>
              <a:rPr lang="en-US" sz="1200" dirty="0"/>
              <a:t>     - Medical guideline context from the File component  </a:t>
            </a:r>
          </a:p>
          <a:p>
            <a:r>
              <a:rPr lang="en-US" sz="1200" dirty="0"/>
              <a:t>     - Patient vital data from Chat Input  </a:t>
            </a:r>
          </a:p>
          <a:p>
            <a:r>
              <a:rPr lang="en-US" sz="1200" dirty="0"/>
              <a:t>   - Creates a structured prompt for the IBM Granite model (analysis + anomaly detection + care guidance).</a:t>
            </a:r>
          </a:p>
          <a:p>
            <a:endParaRPr lang="en-US" sz="1200" dirty="0"/>
          </a:p>
          <a:p>
            <a:r>
              <a:rPr lang="en-US" sz="1200" dirty="0"/>
              <a:t>4. </a:t>
            </a:r>
            <a:r>
              <a:rPr lang="en-US" sz="1200" b="1" dirty="0"/>
              <a:t>IBM </a:t>
            </a:r>
            <a:r>
              <a:rPr lang="en-US" sz="1200" b="1" dirty="0" err="1"/>
              <a:t>watsonx</a:t>
            </a:r>
            <a:r>
              <a:rPr lang="en-US" sz="1200" b="1" dirty="0"/>
              <a:t> / Granite AI Agent </a:t>
            </a:r>
            <a:r>
              <a:rPr lang="en-US" sz="1200" dirty="0"/>
              <a:t>(Custom Component) </a:t>
            </a:r>
          </a:p>
          <a:p>
            <a:r>
              <a:rPr lang="en-US" sz="1200" dirty="0"/>
              <a:t>   - Calls the IBM Granite model (`ibm/granite-3-8b-instruct`) on IBM Cloud.  </a:t>
            </a:r>
          </a:p>
          <a:p>
            <a:r>
              <a:rPr lang="en-US" sz="1200" dirty="0"/>
              <a:t>   - Sends the prompt from the Prompt Template and returns the LLM’s analysis of the vitals.</a:t>
            </a:r>
          </a:p>
          <a:p>
            <a:endParaRPr lang="en-US" sz="1200" dirty="0"/>
          </a:p>
          <a:p>
            <a:r>
              <a:rPr lang="en-US" sz="1200" dirty="0"/>
              <a:t>5. </a:t>
            </a:r>
            <a:r>
              <a:rPr lang="en-US" sz="1200" b="1" dirty="0"/>
              <a:t>Risk Stratification Calculator </a:t>
            </a:r>
            <a:r>
              <a:rPr lang="en-US" sz="1200" dirty="0"/>
              <a:t>(Custom Component) </a:t>
            </a:r>
          </a:p>
          <a:p>
            <a:r>
              <a:rPr lang="en-US" sz="1200" dirty="0"/>
              <a:t>   - Reads Granite’s text output and extracts the status for each vital (NORMAL / WARNING / CRITICAL).  </a:t>
            </a:r>
          </a:p>
          <a:p>
            <a:r>
              <a:rPr lang="en-US" sz="1200" dirty="0"/>
              <a:t>   - Computes a weighted risk score and classifies the patient into GREEN / YELLOW / ORANGE / RED risk zones.  </a:t>
            </a:r>
          </a:p>
          <a:p>
            <a:r>
              <a:rPr lang="en-US" sz="1200" dirty="0"/>
              <a:t>   - Appends a short baseline/trend summary to the final report.</a:t>
            </a:r>
          </a:p>
          <a:p>
            <a:endParaRPr lang="en-US" sz="1200" dirty="0"/>
          </a:p>
          <a:p>
            <a:r>
              <a:rPr lang="en-US" sz="1200" dirty="0"/>
              <a:t>6. </a:t>
            </a:r>
            <a:r>
              <a:rPr lang="en-US" sz="1200" b="1" dirty="0"/>
              <a:t>Chat Output</a:t>
            </a:r>
          </a:p>
          <a:p>
            <a:r>
              <a:rPr lang="en-US" sz="1200" dirty="0"/>
              <a:t>     - Displays the final combined message to the user:  </a:t>
            </a:r>
          </a:p>
          <a:p>
            <a:r>
              <a:rPr lang="en-US" sz="1200" dirty="0"/>
              <a:t>     - Vital sign assessment  </a:t>
            </a:r>
          </a:p>
          <a:p>
            <a:r>
              <a:rPr lang="en-US" sz="1200" dirty="0"/>
              <a:t>     - Risk stratification result  </a:t>
            </a:r>
          </a:p>
          <a:p>
            <a:r>
              <a:rPr lang="en-US" sz="1200" dirty="0"/>
              <a:t>     - Trend summary and assistive care guidance.</a:t>
            </a:r>
            <a:endParaRPr lang="en-IN" sz="1200" dirty="0"/>
          </a:p>
        </p:txBody>
      </p:sp>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69B1FEEE-72A3-F296-F871-F0865F3ED22F}"/>
              </a:ext>
            </a:extLst>
          </p:cNvPr>
          <p:cNvPicPr>
            <a:picLocks noChangeAspect="1"/>
          </p:cNvPicPr>
          <p:nvPr/>
        </p:nvPicPr>
        <p:blipFill>
          <a:blip r:embed="rId4"/>
          <a:stretch>
            <a:fillRect/>
          </a:stretch>
        </p:blipFill>
        <p:spPr>
          <a:xfrm>
            <a:off x="549057" y="912880"/>
            <a:ext cx="8065554" cy="509327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C52D29B5-0B94-967C-D700-AFFAF9F4754E}"/>
              </a:ext>
            </a:extLst>
          </p:cNvPr>
          <p:cNvPicPr>
            <a:picLocks noChangeAspect="1"/>
          </p:cNvPicPr>
          <p:nvPr/>
        </p:nvPicPr>
        <p:blipFill>
          <a:blip r:embed="rId4"/>
          <a:stretch>
            <a:fillRect/>
          </a:stretch>
        </p:blipFill>
        <p:spPr>
          <a:xfrm>
            <a:off x="0" y="1532149"/>
            <a:ext cx="6257078" cy="3793701"/>
          </a:xfrm>
          <a:prstGeom prst="rect">
            <a:avLst/>
          </a:prstGeom>
        </p:spPr>
      </p:pic>
      <p:pic>
        <p:nvPicPr>
          <p:cNvPr id="7" name="Picture 6">
            <a:extLst>
              <a:ext uri="{FF2B5EF4-FFF2-40B4-BE49-F238E27FC236}">
                <a16:creationId xmlns:a16="http://schemas.microsoft.com/office/drawing/2014/main" id="{BF09C41C-8587-8DCA-2DCD-531765BDA35D}"/>
              </a:ext>
            </a:extLst>
          </p:cNvPr>
          <p:cNvPicPr>
            <a:picLocks noChangeAspect="1"/>
          </p:cNvPicPr>
          <p:nvPr/>
        </p:nvPicPr>
        <p:blipFill>
          <a:blip r:embed="rId5"/>
          <a:stretch>
            <a:fillRect/>
          </a:stretch>
        </p:blipFill>
        <p:spPr>
          <a:xfrm>
            <a:off x="6396897" y="1532149"/>
            <a:ext cx="5666766" cy="3793701"/>
          </a:xfrm>
          <a:prstGeom prst="rect">
            <a:avLst/>
          </a:prstGeom>
        </p:spPr>
      </p:pic>
      <p:sp>
        <p:nvSpPr>
          <p:cNvPr id="8" name="TextBox 7">
            <a:extLst>
              <a:ext uri="{FF2B5EF4-FFF2-40B4-BE49-F238E27FC236}">
                <a16:creationId xmlns:a16="http://schemas.microsoft.com/office/drawing/2014/main" id="{4D1FC340-16D9-35C1-22E6-5487D976F15F}"/>
              </a:ext>
            </a:extLst>
          </p:cNvPr>
          <p:cNvSpPr txBox="1"/>
          <p:nvPr/>
        </p:nvSpPr>
        <p:spPr>
          <a:xfrm>
            <a:off x="3384884" y="232431"/>
            <a:ext cx="6962274" cy="584775"/>
          </a:xfrm>
          <a:prstGeom prst="rect">
            <a:avLst/>
          </a:prstGeom>
          <a:noFill/>
        </p:spPr>
        <p:txBody>
          <a:bodyPr wrap="square" rtlCol="0">
            <a:spAutoFit/>
          </a:bodyPr>
          <a:lstStyle/>
          <a:p>
            <a:r>
              <a:rPr lang="en-US" sz="3200" b="1" dirty="0"/>
              <a:t>Output Screenshot(Critical)</a:t>
            </a:r>
            <a:endParaRPr lang="en-IN" sz="3200" b="1" dirty="0"/>
          </a:p>
        </p:txBody>
      </p:sp>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FAD1782-880F-EA66-C08A-330682955FD1}"/>
              </a:ext>
            </a:extLst>
          </p:cNvPr>
          <p:cNvPicPr>
            <a:picLocks noChangeAspect="1"/>
          </p:cNvPicPr>
          <p:nvPr/>
        </p:nvPicPr>
        <p:blipFill>
          <a:blip r:embed="rId4"/>
          <a:stretch>
            <a:fillRect/>
          </a:stretch>
        </p:blipFill>
        <p:spPr>
          <a:xfrm>
            <a:off x="2561500" y="809088"/>
            <a:ext cx="6454163" cy="5239824"/>
          </a:xfrm>
          <a:prstGeom prst="rect">
            <a:avLst/>
          </a:prstGeom>
        </p:spPr>
      </p:pic>
      <p:sp>
        <p:nvSpPr>
          <p:cNvPr id="7" name="TextBox 6">
            <a:extLst>
              <a:ext uri="{FF2B5EF4-FFF2-40B4-BE49-F238E27FC236}">
                <a16:creationId xmlns:a16="http://schemas.microsoft.com/office/drawing/2014/main" id="{7D428FAB-508E-0B9B-74A1-C52304C3C96A}"/>
              </a:ext>
            </a:extLst>
          </p:cNvPr>
          <p:cNvSpPr txBox="1"/>
          <p:nvPr/>
        </p:nvSpPr>
        <p:spPr>
          <a:xfrm>
            <a:off x="5245768" y="112295"/>
            <a:ext cx="4315326" cy="523220"/>
          </a:xfrm>
          <a:prstGeom prst="rect">
            <a:avLst/>
          </a:prstGeom>
          <a:noFill/>
        </p:spPr>
        <p:txBody>
          <a:bodyPr wrap="square" rtlCol="0">
            <a:spAutoFit/>
          </a:bodyPr>
          <a:lstStyle/>
          <a:p>
            <a:r>
              <a:rPr lang="en-US" sz="2800" b="1" dirty="0"/>
              <a:t>File.txt</a:t>
            </a:r>
            <a:endParaRPr lang="en-IN" sz="2800" b="1" dirty="0"/>
          </a:p>
        </p:txBody>
      </p:sp>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4203611" y="23388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CE2837E7-4F0B-240A-A98E-4800CD879332}"/>
              </a:ext>
            </a:extLst>
          </p:cNvPr>
          <p:cNvPicPr>
            <a:picLocks noChangeAspect="1"/>
          </p:cNvPicPr>
          <p:nvPr/>
        </p:nvPicPr>
        <p:blipFill>
          <a:blip r:embed="rId4"/>
          <a:stretch>
            <a:fillRect/>
          </a:stretch>
        </p:blipFill>
        <p:spPr>
          <a:xfrm>
            <a:off x="2040153" y="1190369"/>
            <a:ext cx="8111693" cy="4597182"/>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AAE5728-66EA-EA10-986E-8C44C265A1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7606DB-7D7C-71FA-15D0-80A55F068891}"/>
              </a:ext>
            </a:extLst>
          </p:cNvPr>
          <p:cNvSpPr txBox="1"/>
          <p:nvPr/>
        </p:nvSpPr>
        <p:spPr>
          <a:xfrm>
            <a:off x="4203611" y="23388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(Normal)</a:t>
            </a:r>
            <a:endParaRPr lang="en-US" dirty="0"/>
          </a:p>
        </p:txBody>
      </p:sp>
      <p:pic>
        <p:nvPicPr>
          <p:cNvPr id="5" name="Picture 4">
            <a:extLst>
              <a:ext uri="{FF2B5EF4-FFF2-40B4-BE49-F238E27FC236}">
                <a16:creationId xmlns:a16="http://schemas.microsoft.com/office/drawing/2014/main" id="{17B8439C-2D4D-244C-7528-BA0F557AB9F1}"/>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C8B00B3B-350A-7410-2A14-4F2A60B4BFEE}"/>
              </a:ext>
            </a:extLst>
          </p:cNvPr>
          <p:cNvPicPr>
            <a:picLocks noChangeAspect="1"/>
          </p:cNvPicPr>
          <p:nvPr/>
        </p:nvPicPr>
        <p:blipFill>
          <a:blip r:embed="rId4"/>
          <a:stretch>
            <a:fillRect/>
          </a:stretch>
        </p:blipFill>
        <p:spPr>
          <a:xfrm>
            <a:off x="190006" y="1443789"/>
            <a:ext cx="6109258" cy="4095746"/>
          </a:xfrm>
          <a:prstGeom prst="rect">
            <a:avLst/>
          </a:prstGeom>
        </p:spPr>
      </p:pic>
      <p:pic>
        <p:nvPicPr>
          <p:cNvPr id="8" name="Picture 7">
            <a:extLst>
              <a:ext uri="{FF2B5EF4-FFF2-40B4-BE49-F238E27FC236}">
                <a16:creationId xmlns:a16="http://schemas.microsoft.com/office/drawing/2014/main" id="{2E957E65-6CA6-8463-615D-BF046A1B25F5}"/>
              </a:ext>
            </a:extLst>
          </p:cNvPr>
          <p:cNvPicPr>
            <a:picLocks noChangeAspect="1"/>
          </p:cNvPicPr>
          <p:nvPr/>
        </p:nvPicPr>
        <p:blipFill>
          <a:blip r:embed="rId5"/>
          <a:stretch>
            <a:fillRect/>
          </a:stretch>
        </p:blipFill>
        <p:spPr>
          <a:xfrm>
            <a:off x="6299264" y="1620870"/>
            <a:ext cx="5702730" cy="3059845"/>
          </a:xfrm>
          <a:prstGeom prst="rect">
            <a:avLst/>
          </a:prstGeom>
        </p:spPr>
      </p:pic>
    </p:spTree>
    <p:extLst>
      <p:ext uri="{BB962C8B-B14F-4D97-AF65-F5344CB8AC3E}">
        <p14:creationId xmlns:p14="http://schemas.microsoft.com/office/powerpoint/2010/main" val="14567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·1. Integration with Real Hospital Systems</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2. Support for more </a:t>
            </a:r>
            <a:r>
              <a:rPr lang="en-US" sz="2000" dirty="0">
                <a:solidFill>
                  <a:srgbClr val="2B3541"/>
                </a:solidFill>
                <a:latin typeface="Times New Roman"/>
                <a:ea typeface="Times New Roman"/>
                <a:cs typeface="Times New Roman"/>
                <a:sym typeface="Times New Roman"/>
              </a:rPr>
              <a:t>V</a:t>
            </a:r>
            <a:r>
              <a:rPr lang="en-US" sz="2000" b="0" i="0" u="none" strike="noStrike" cap="none" dirty="0">
                <a:solidFill>
                  <a:srgbClr val="2B3541"/>
                </a:solidFill>
                <a:latin typeface="Times New Roman"/>
                <a:ea typeface="Times New Roman"/>
                <a:cs typeface="Times New Roman"/>
                <a:sym typeface="Times New Roman"/>
              </a:rPr>
              <a:t>itals and Clinical Data</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  3. Patient Specific Learning and Adaptive Baselines</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a:t>
            </a:r>
            <a:r>
              <a:rPr lang="en-US" sz="2000" dirty="0">
                <a:solidFill>
                  <a:srgbClr val="2B3541"/>
                </a:solidFill>
                <a:latin typeface="Times New Roman"/>
                <a:ea typeface="Times New Roman"/>
                <a:cs typeface="Times New Roman"/>
                <a:sym typeface="Times New Roman"/>
              </a:rPr>
              <a:t> 4. Predictive Early  Warming Models: Train ML models on historical data to predict deterioration 1-6 hours in advance.</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a:t>
            </a:r>
            <a:r>
              <a:rPr lang="en-US" sz="2000" dirty="0">
                <a:solidFill>
                  <a:srgbClr val="2B3541"/>
                </a:solidFill>
                <a:latin typeface="Times New Roman"/>
                <a:ea typeface="Times New Roman"/>
                <a:cs typeface="Times New Roman"/>
                <a:sym typeface="Times New Roman"/>
              </a:rPr>
              <a:t>  5. Multi Patient Dashboard and Alert Prioritization</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6. Deployment for </a:t>
            </a:r>
            <a:r>
              <a:rPr lang="en-US" sz="2000" dirty="0">
                <a:solidFill>
                  <a:srgbClr val="2B3541"/>
                </a:solidFill>
                <a:latin typeface="Times New Roman"/>
                <a:ea typeface="Times New Roman"/>
                <a:cs typeface="Times New Roman"/>
                <a:sym typeface="Times New Roman"/>
              </a:rPr>
              <a:t>Remote Monitoring</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7. Multilingual and Voice Interface</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   8. Clinical Validation and Regulatory Readiness</a:t>
            </a:r>
            <a:r>
              <a:rPr lang="en-US" sz="2000" b="0" i="0" u="none" strike="noStrike" cap="none" dirty="0">
                <a:solidFill>
                  <a:srgbClr val="2B3541"/>
                </a:solidFill>
                <a:latin typeface="Times New Roman"/>
                <a:ea typeface="Times New Roman"/>
                <a:cs typeface="Times New Roman"/>
                <a:sym typeface="Times New Roman"/>
              </a:rPr>
              <a:t> </a:t>
            </a:r>
            <a:endParaRPr lang="en-US" sz="20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20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https://github.com/Lion4467cat/patient-vital-monitoring</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4186514" y="203321"/>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Rectangle 1">
            <a:extLst>
              <a:ext uri="{FF2B5EF4-FFF2-40B4-BE49-F238E27FC236}">
                <a16:creationId xmlns:a16="http://schemas.microsoft.com/office/drawing/2014/main" id="{6F7E1278-24C9-6307-AD91-343B490C2F12}"/>
              </a:ext>
            </a:extLst>
          </p:cNvPr>
          <p:cNvSpPr>
            <a:spLocks noChangeArrowheads="1"/>
          </p:cNvSpPr>
          <p:nvPr/>
        </p:nvSpPr>
        <p:spPr bwMode="auto">
          <a:xfrm>
            <a:off x="576855" y="907338"/>
            <a:ext cx="1127934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IBM watsonx.ai – Granite Models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IBM Granite 3‑8B Instruct model overview and API usage.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https://www.ibm.com/products/watsonx-ai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LangFlow Documentation (DataStax Astra)</a:t>
            </a:r>
          </a:p>
          <a:p>
            <a:pPr marL="457200" lvl="1"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Building and deploying LLM pipelines with components </a:t>
            </a:r>
            <a:r>
              <a:rPr kumimoji="0" lang="en-US" altLang="en-US" sz="1800" b="0" i="0" u="none" strike="noStrike" cap="none" normalizeH="0" baseline="0" dirty="0" err="1">
                <a:ln>
                  <a:noFill/>
                </a:ln>
                <a:solidFill>
                  <a:schemeClr val="tx1"/>
                </a:solidFill>
                <a:effectLst/>
                <a:latin typeface="Arial" panose="020B0604020202020204" pitchFamily="34" charset="0"/>
              </a:rPr>
              <a:t>like</a:t>
            </a:r>
            <a:r>
              <a:rPr lang="en-US" altLang="en-US" sz="1800" dirty="0" err="1">
                <a:solidFill>
                  <a:schemeClr val="tx1"/>
                </a:solidFill>
                <a:latin typeface="Arial" panose="020B0604020202020204" pitchFamily="34" charset="0"/>
              </a:rPr>
              <a:t>Chat</a:t>
            </a:r>
            <a:r>
              <a:rPr kumimoji="0" lang="en-US" altLang="en-US" sz="1800" b="0" i="0" u="none" strike="noStrike" cap="none" normalizeH="0" baseline="0" dirty="0">
                <a:ln>
                  <a:noFill/>
                </a:ln>
                <a:solidFill>
                  <a:schemeClr val="tx1"/>
                </a:solidFill>
                <a:effectLst/>
                <a:latin typeface="Arial" panose="020B0604020202020204" pitchFamily="34" charset="0"/>
              </a:rPr>
              <a:t> Input, File, Prompt Template, and Custom Components.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https://docs.langflow.org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IBM Cloud – Machine Learning &amp; AI Services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Platform used to host and call the Granite model via REST API.</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https://www.ibm.com/cloud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Standard Clinical Vital Sign Ranges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General reference for normal HR, BP, SpO₂, and temperature ranges.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summary: </a:t>
            </a: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https://www.ncbi.nlm.nih.gov/books/NBK541070/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Early Warning Scores and Risk Stratification Concepts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Inspiration for combining multiple vitals into a single risk category (similar to NEWS/EWS).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8"/>
              </a:rPr>
              <a:t>https://www.rcplondon.ac.uk/projects/outputs/national-early-warning-score-news-2</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chemeClr val="tx1"/>
                </a:solidFill>
                <a:effectLst/>
                <a:latin typeface="Arial" panose="020B0604020202020204" pitchFamily="34" charset="0"/>
              </a:rPr>
              <a:t>LangFlow GitHub Repository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Open‑source implementation and examples of custom components used as a reference.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9"/>
              </a:rPr>
              <a:t>https://github.com/logspace-ai/langflow</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1354</TotalTime>
  <Words>1400</Words>
  <Application>Microsoft Office PowerPoint</Application>
  <PresentationFormat>Widescreen</PresentationFormat>
  <Paragraphs>172</Paragraphs>
  <Slides>19</Slides>
  <Notes>18</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SS Gokula Swamy</cp:lastModifiedBy>
  <cp:revision>117</cp:revision>
  <dcterms:created xsi:type="dcterms:W3CDTF">2025-07-08T05:06:56Z</dcterms:created>
  <dcterms:modified xsi:type="dcterms:W3CDTF">2026-01-30T07:00:24Z</dcterms:modified>
</cp:coreProperties>
</file>